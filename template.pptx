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7" r:id="rId9"/>
    <p:sldId id="268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53136-303D-4B90-B584-B794BE927A4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4BEE7-053A-48C5-8B68-35193D3BC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2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** 支付寶</a:t>
            </a:r>
            <a:r>
              <a:rPr lang="en-US" altLang="zh-TW" dirty="0"/>
              <a:t>(ALP</a:t>
            </a:r>
            <a:r>
              <a:rPr lang="zh-TW" altLang="en-US" dirty="0"/>
              <a:t>*</a:t>
            </a:r>
            <a:r>
              <a:rPr lang="en-US" altLang="zh-TW" dirty="0"/>
              <a:t>)</a:t>
            </a:r>
            <a:r>
              <a:rPr lang="zh-TW" altLang="en-US" dirty="0"/>
              <a:t>，查一下是只能掃碼支付，並不支援網購的部分。因此，可以增加</a:t>
            </a:r>
            <a:r>
              <a:rPr lang="en-US" altLang="zh-TW" dirty="0"/>
              <a:t>ALP</a:t>
            </a:r>
            <a:r>
              <a:rPr lang="zh-TW" altLang="en-US" dirty="0"/>
              <a:t>*</a:t>
            </a:r>
            <a:r>
              <a:rPr lang="en-US" altLang="zh-TW" dirty="0"/>
              <a:t>(</a:t>
            </a:r>
            <a:r>
              <a:rPr lang="zh-TW" altLang="en-US" dirty="0"/>
              <a:t>目前應該在海外網購其他</a:t>
            </a:r>
            <a:r>
              <a:rPr lang="en-US" altLang="zh-TW" dirty="0"/>
              <a:t>)</a:t>
            </a:r>
            <a:r>
              <a:rPr lang="zh-TW" altLang="en-US" dirty="0"/>
              <a:t>，來增加海外實體消費的判斷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09701B-32F9-F74C-A2E8-794B80F7A02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867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科技領航</a:t>
            </a:r>
            <a:endParaRPr lang="en-US" sz="1200" b="1" dirty="0" smtClean="0">
              <a:solidFill>
                <a:srgbClr val="20202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4BEE7-053A-48C5-8B68-35193D3BC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9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6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3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6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0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6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8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1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4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5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7313-5F43-44AF-84C7-672573267C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517C6-D4F0-46B3-8180-567EE50E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4580503"/>
            <a:ext cx="3387396" cy="2277499"/>
            <a:chOff x="0" y="0"/>
            <a:chExt cx="1338231" cy="8997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231" cy="899752"/>
            </a:xfrm>
            <a:custGeom>
              <a:avLst/>
              <a:gdLst/>
              <a:ahLst/>
              <a:cxnLst/>
              <a:rect l="l" t="t" r="r" b="b"/>
              <a:pathLst>
                <a:path w="1338231" h="899752">
                  <a:moveTo>
                    <a:pt x="0" y="0"/>
                  </a:moveTo>
                  <a:lnTo>
                    <a:pt x="1338231" y="0"/>
                  </a:lnTo>
                  <a:lnTo>
                    <a:pt x="1338231" y="899752"/>
                  </a:lnTo>
                  <a:lnTo>
                    <a:pt x="0" y="899752"/>
                  </a:lnTo>
                  <a:close/>
                </a:path>
              </a:pathLst>
            </a:custGeom>
            <a:solidFill>
              <a:srgbClr val="EECE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338231" cy="8711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1808" y="1072771"/>
            <a:ext cx="3898683" cy="4612740"/>
            <a:chOff x="0" y="0"/>
            <a:chExt cx="657167" cy="777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7167" cy="777529"/>
            </a:xfrm>
            <a:custGeom>
              <a:avLst/>
              <a:gdLst/>
              <a:ahLst/>
              <a:cxnLst/>
              <a:rect l="l" t="t" r="r" b="b"/>
              <a:pathLst>
                <a:path w="657167" h="777529">
                  <a:moveTo>
                    <a:pt x="219174" y="19070"/>
                  </a:moveTo>
                  <a:cubicBezTo>
                    <a:pt x="252757" y="7556"/>
                    <a:pt x="291168" y="0"/>
                    <a:pt x="328760" y="0"/>
                  </a:cubicBezTo>
                  <a:cubicBezTo>
                    <a:pt x="366354" y="0"/>
                    <a:pt x="402529" y="6476"/>
                    <a:pt x="435865" y="17990"/>
                  </a:cubicBezTo>
                  <a:cubicBezTo>
                    <a:pt x="436575" y="18350"/>
                    <a:pt x="437284" y="18350"/>
                    <a:pt x="437993" y="18710"/>
                  </a:cubicBezTo>
                  <a:cubicBezTo>
                    <a:pt x="563185" y="64765"/>
                    <a:pt x="655394" y="186379"/>
                    <a:pt x="657167" y="327719"/>
                  </a:cubicBezTo>
                  <a:lnTo>
                    <a:pt x="657167" y="723748"/>
                  </a:lnTo>
                  <a:cubicBezTo>
                    <a:pt x="657167" y="753451"/>
                    <a:pt x="633088" y="777529"/>
                    <a:pt x="603386" y="777529"/>
                  </a:cubicBezTo>
                  <a:lnTo>
                    <a:pt x="53781" y="777529"/>
                  </a:lnTo>
                  <a:cubicBezTo>
                    <a:pt x="24079" y="777529"/>
                    <a:pt x="0" y="753451"/>
                    <a:pt x="0" y="723748"/>
                  </a:cubicBezTo>
                  <a:lnTo>
                    <a:pt x="0" y="328052"/>
                  </a:lnTo>
                  <a:cubicBezTo>
                    <a:pt x="1773" y="185660"/>
                    <a:pt x="92564" y="64045"/>
                    <a:pt x="219174" y="19070"/>
                  </a:cubicBezTo>
                  <a:lnTo>
                    <a:pt x="219174" y="1907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905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7678160" y="292729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441469" y="5163405"/>
            <a:ext cx="2430940" cy="24309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41469" y="5298435"/>
            <a:ext cx="658775" cy="65877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1809" y="1327635"/>
            <a:ext cx="817255" cy="81725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89496" y="2534704"/>
            <a:ext cx="5777608" cy="221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5333" b="1" dirty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Mega tagging 3.0</a:t>
            </a:r>
          </a:p>
          <a:p>
            <a:pPr algn="l">
              <a:lnSpc>
                <a:spcPct val="150000"/>
              </a:lnSpc>
            </a:pPr>
            <a:r>
              <a:rPr lang="en-US" sz="4267" b="1" dirty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– </a:t>
            </a:r>
            <a:r>
              <a:rPr lang="en-US" altLang="zh-TW" sz="4267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“</a:t>
            </a:r>
            <a:r>
              <a:rPr lang="zh-TW" altLang="en-US" sz="4267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擷取標籤名稱</a:t>
            </a:r>
            <a:r>
              <a:rPr lang="en-US" altLang="zh-TW" sz="4267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”</a:t>
            </a:r>
            <a:endParaRPr lang="en-US" sz="4267" b="1" dirty="0">
              <a:solidFill>
                <a:srgbClr val="20202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</p:spTree>
    <p:extLst>
      <p:ext uri="{BB962C8B-B14F-4D97-AF65-F5344CB8AC3E}">
        <p14:creationId xmlns:p14="http://schemas.microsoft.com/office/powerpoint/2010/main" val="407408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991163" cy="3429000"/>
            <a:chOff x="0" y="0"/>
            <a:chExt cx="1181694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694" cy="1354667"/>
            </a:xfrm>
            <a:custGeom>
              <a:avLst/>
              <a:gdLst/>
              <a:ahLst/>
              <a:cxnLst/>
              <a:rect l="l" t="t" r="r" b="b"/>
              <a:pathLst>
                <a:path w="1181694" h="1354667">
                  <a:moveTo>
                    <a:pt x="0" y="0"/>
                  </a:moveTo>
                  <a:lnTo>
                    <a:pt x="1181694" y="0"/>
                  </a:lnTo>
                  <a:lnTo>
                    <a:pt x="1181694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EECE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181694" cy="13260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470" y="1110309"/>
            <a:ext cx="3790103" cy="379010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>
            <a:off x="280827" y="5386056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604460D3-8C25-3342-A4A8-C2E69F0B6920}"/>
              </a:ext>
            </a:extLst>
          </p:cNvPr>
          <p:cNvGrpSpPr/>
          <p:nvPr/>
        </p:nvGrpSpPr>
        <p:grpSpPr>
          <a:xfrm>
            <a:off x="5802694" y="2612978"/>
            <a:ext cx="3284449" cy="586613"/>
            <a:chOff x="8704040" y="3919469"/>
            <a:chExt cx="4926673" cy="879920"/>
          </a:xfrm>
        </p:grpSpPr>
        <p:sp>
          <p:nvSpPr>
            <p:cNvPr id="9" name="TextBox 9"/>
            <p:cNvSpPr txBox="1"/>
            <p:nvPr/>
          </p:nvSpPr>
          <p:spPr>
            <a:xfrm>
              <a:off x="10600792" y="4051653"/>
              <a:ext cx="3029921" cy="6156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2667" b="1" spc="400" dirty="0" err="1">
                  <a:solidFill>
                    <a:srgbClr val="20202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 Unicode Bold"/>
                  <a:sym typeface="Arial Unicode Bold"/>
                </a:rPr>
                <a:t>標籤敘事</a:t>
              </a:r>
              <a:endParaRPr lang="en-US" sz="2667" b="1" spc="400" dirty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endParaRP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F453DF70-76E5-7743-A348-C3DF5544B09C}"/>
                </a:ext>
              </a:extLst>
            </p:cNvPr>
            <p:cNvGrpSpPr/>
            <p:nvPr/>
          </p:nvGrpSpPr>
          <p:grpSpPr>
            <a:xfrm>
              <a:off x="8704040" y="3919469"/>
              <a:ext cx="879920" cy="879920"/>
              <a:chOff x="9124801" y="3908753"/>
              <a:chExt cx="879920" cy="87992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Freeform 12"/>
              <p:cNvSpPr/>
              <p:nvPr/>
            </p:nvSpPr>
            <p:spPr>
              <a:xfrm>
                <a:off x="9124801" y="3908753"/>
                <a:ext cx="879920" cy="879920"/>
              </a:xfrm>
              <a:custGeom>
                <a:avLst/>
                <a:gdLst/>
                <a:ahLst/>
                <a:cxnLst/>
                <a:rect l="l" t="t" r="r" b="b"/>
                <a:pathLst>
                  <a:path w="1557155" h="1557155">
                    <a:moveTo>
                      <a:pt x="105581" y="0"/>
                    </a:moveTo>
                    <a:lnTo>
                      <a:pt x="1451574" y="0"/>
                    </a:lnTo>
                    <a:cubicBezTo>
                      <a:pt x="1509885" y="0"/>
                      <a:pt x="1557155" y="47270"/>
                      <a:pt x="1557155" y="105581"/>
                    </a:cubicBezTo>
                    <a:lnTo>
                      <a:pt x="1557155" y="1451574"/>
                    </a:lnTo>
                    <a:cubicBezTo>
                      <a:pt x="1557155" y="1509885"/>
                      <a:pt x="1509885" y="1557155"/>
                      <a:pt x="1451574" y="1557155"/>
                    </a:cubicBezTo>
                    <a:lnTo>
                      <a:pt x="105581" y="1557155"/>
                    </a:lnTo>
                    <a:cubicBezTo>
                      <a:pt x="47270" y="1557155"/>
                      <a:pt x="0" y="1509885"/>
                      <a:pt x="0" y="1451574"/>
                    </a:cubicBezTo>
                    <a:lnTo>
                      <a:pt x="0" y="105581"/>
                    </a:lnTo>
                    <a:cubicBezTo>
                      <a:pt x="0" y="47270"/>
                      <a:pt x="47270" y="0"/>
                      <a:pt x="10558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124801" y="3914136"/>
                <a:ext cx="879920" cy="8691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93"/>
                  </a:lnSpc>
                </a:pPr>
                <a:endParaRPr sz="1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135051" y="4071715"/>
                <a:ext cx="859422" cy="5539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20202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 Unicode Bold"/>
                    <a:sym typeface="Arial Unicode Bold"/>
                  </a:rPr>
                  <a:t>01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10579582" y="-509088"/>
            <a:ext cx="2151215" cy="215121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79582" y="983353"/>
            <a:ext cx="658775" cy="65877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15477" y="4424306"/>
            <a:ext cx="817255" cy="81725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31197A78-0E78-6449-A926-B0744ED5122C}"/>
              </a:ext>
            </a:extLst>
          </p:cNvPr>
          <p:cNvGrpSpPr/>
          <p:nvPr/>
        </p:nvGrpSpPr>
        <p:grpSpPr>
          <a:xfrm>
            <a:off x="4734158" y="983352"/>
            <a:ext cx="4352985" cy="816530"/>
            <a:chOff x="7846701" y="1490258"/>
            <a:chExt cx="6529478" cy="1224795"/>
          </a:xfrm>
        </p:grpSpPr>
        <p:grpSp>
          <p:nvGrpSpPr>
            <p:cNvPr id="41" name="Group 15">
              <a:extLst>
                <a:ext uri="{FF2B5EF4-FFF2-40B4-BE49-F238E27FC236}">
                  <a16:creationId xmlns:a16="http://schemas.microsoft.com/office/drawing/2014/main" id="{1D0E674D-7CCB-FA40-8DBE-EF2F270BD2B1}"/>
                </a:ext>
              </a:extLst>
            </p:cNvPr>
            <p:cNvGrpSpPr/>
            <p:nvPr/>
          </p:nvGrpSpPr>
          <p:grpSpPr>
            <a:xfrm>
              <a:off x="7846701" y="1490258"/>
              <a:ext cx="4040499" cy="1224795"/>
              <a:chOff x="0" y="0"/>
              <a:chExt cx="7098218" cy="2499867"/>
            </a:xfrm>
          </p:grpSpPr>
          <p:grpSp>
            <p:nvGrpSpPr>
              <p:cNvPr id="42" name="Group 16">
                <a:extLst>
                  <a:ext uri="{FF2B5EF4-FFF2-40B4-BE49-F238E27FC236}">
                    <a16:creationId xmlns:a16="http://schemas.microsoft.com/office/drawing/2014/main" id="{4BF3D3DF-E418-6747-A2F3-122E428BDE5A}"/>
                  </a:ext>
                </a:extLst>
              </p:cNvPr>
              <p:cNvGrpSpPr/>
              <p:nvPr/>
            </p:nvGrpSpPr>
            <p:grpSpPr>
              <a:xfrm>
                <a:off x="203200" y="212067"/>
                <a:ext cx="6895018" cy="2287800"/>
                <a:chOff x="0" y="0"/>
                <a:chExt cx="1361979" cy="451911"/>
              </a:xfrm>
            </p:grpSpPr>
            <p:sp>
              <p:nvSpPr>
                <p:cNvPr id="46" name="Freeform 17">
                  <a:extLst>
                    <a:ext uri="{FF2B5EF4-FFF2-40B4-BE49-F238E27FC236}">
                      <a16:creationId xmlns:a16="http://schemas.microsoft.com/office/drawing/2014/main" id="{502B3190-23CD-BB4D-BC00-959D5599130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361979" cy="451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979" h="451911">
                      <a:moveTo>
                        <a:pt x="25451" y="0"/>
                      </a:moveTo>
                      <a:lnTo>
                        <a:pt x="1336528" y="0"/>
                      </a:lnTo>
                      <a:cubicBezTo>
                        <a:pt x="1343278" y="0"/>
                        <a:pt x="1349752" y="2681"/>
                        <a:pt x="1354524" y="7454"/>
                      </a:cubicBezTo>
                      <a:cubicBezTo>
                        <a:pt x="1359297" y="12227"/>
                        <a:pt x="1361979" y="18701"/>
                        <a:pt x="1361979" y="25451"/>
                      </a:cubicBezTo>
                      <a:lnTo>
                        <a:pt x="1361979" y="426460"/>
                      </a:lnTo>
                      <a:cubicBezTo>
                        <a:pt x="1361979" y="440516"/>
                        <a:pt x="1350584" y="451911"/>
                        <a:pt x="1336528" y="451911"/>
                      </a:cubicBezTo>
                      <a:lnTo>
                        <a:pt x="25451" y="451911"/>
                      </a:lnTo>
                      <a:cubicBezTo>
                        <a:pt x="18701" y="451911"/>
                        <a:pt x="12227" y="449230"/>
                        <a:pt x="7454" y="444457"/>
                      </a:cubicBezTo>
                      <a:cubicBezTo>
                        <a:pt x="2681" y="439684"/>
                        <a:pt x="0" y="433210"/>
                        <a:pt x="0" y="426460"/>
                      </a:cubicBezTo>
                      <a:lnTo>
                        <a:pt x="0" y="25451"/>
                      </a:lnTo>
                      <a:cubicBezTo>
                        <a:pt x="0" y="18701"/>
                        <a:pt x="2681" y="12227"/>
                        <a:pt x="7454" y="7454"/>
                      </a:cubicBezTo>
                      <a:cubicBezTo>
                        <a:pt x="12227" y="2681"/>
                        <a:pt x="18701" y="0"/>
                        <a:pt x="2545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47" name="TextBox 18">
                  <a:extLst>
                    <a:ext uri="{FF2B5EF4-FFF2-40B4-BE49-F238E27FC236}">
                      <a16:creationId xmlns:a16="http://schemas.microsoft.com/office/drawing/2014/main" id="{8E0DFC4A-D107-F946-8E5E-4C456C33843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361979" cy="490011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sz="60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  <p:grpSp>
            <p:nvGrpSpPr>
              <p:cNvPr id="43" name="Group 19">
                <a:extLst>
                  <a:ext uri="{FF2B5EF4-FFF2-40B4-BE49-F238E27FC236}">
                    <a16:creationId xmlns:a16="http://schemas.microsoft.com/office/drawing/2014/main" id="{EF9B781F-2E5A-9D49-AF70-5497CEC9A267}"/>
                  </a:ext>
                </a:extLst>
              </p:cNvPr>
              <p:cNvGrpSpPr/>
              <p:nvPr/>
            </p:nvGrpSpPr>
            <p:grpSpPr>
              <a:xfrm>
                <a:off x="0" y="0"/>
                <a:ext cx="6895018" cy="2287800"/>
                <a:chOff x="0" y="0"/>
                <a:chExt cx="1361979" cy="451911"/>
              </a:xfrm>
            </p:grpSpPr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B8EBA53-6F3D-6542-9AD4-3AC6C31B131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361979" cy="451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979" h="451911">
                      <a:moveTo>
                        <a:pt x="25451" y="0"/>
                      </a:moveTo>
                      <a:lnTo>
                        <a:pt x="1336528" y="0"/>
                      </a:lnTo>
                      <a:cubicBezTo>
                        <a:pt x="1343278" y="0"/>
                        <a:pt x="1349752" y="2681"/>
                        <a:pt x="1354524" y="7454"/>
                      </a:cubicBezTo>
                      <a:cubicBezTo>
                        <a:pt x="1359297" y="12227"/>
                        <a:pt x="1361979" y="18701"/>
                        <a:pt x="1361979" y="25451"/>
                      </a:cubicBezTo>
                      <a:lnTo>
                        <a:pt x="1361979" y="426460"/>
                      </a:lnTo>
                      <a:cubicBezTo>
                        <a:pt x="1361979" y="440516"/>
                        <a:pt x="1350584" y="451911"/>
                        <a:pt x="1336528" y="451911"/>
                      </a:cubicBezTo>
                      <a:lnTo>
                        <a:pt x="25451" y="451911"/>
                      </a:lnTo>
                      <a:cubicBezTo>
                        <a:pt x="18701" y="451911"/>
                        <a:pt x="12227" y="449230"/>
                        <a:pt x="7454" y="444457"/>
                      </a:cubicBezTo>
                      <a:cubicBezTo>
                        <a:pt x="2681" y="439684"/>
                        <a:pt x="0" y="433210"/>
                        <a:pt x="0" y="426460"/>
                      </a:cubicBezTo>
                      <a:lnTo>
                        <a:pt x="0" y="25451"/>
                      </a:lnTo>
                      <a:cubicBezTo>
                        <a:pt x="0" y="18701"/>
                        <a:pt x="2681" y="12227"/>
                        <a:pt x="7454" y="7454"/>
                      </a:cubicBezTo>
                      <a:cubicBezTo>
                        <a:pt x="12227" y="2681"/>
                        <a:pt x="18701" y="0"/>
                        <a:pt x="25451" y="0"/>
                      </a:cubicBezTo>
                      <a:close/>
                    </a:path>
                  </a:pathLst>
                </a:custGeom>
                <a:solidFill>
                  <a:srgbClr val="FBE5D6"/>
                </a:solidFill>
              </p:spPr>
            </p:sp>
            <p:sp>
              <p:nvSpPr>
                <p:cNvPr id="45" name="TextBox 21">
                  <a:extLst>
                    <a:ext uri="{FF2B5EF4-FFF2-40B4-BE49-F238E27FC236}">
                      <a16:creationId xmlns:a16="http://schemas.microsoft.com/office/drawing/2014/main" id="{0ECF22F5-EFB6-5E45-A324-63C18091988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361979" cy="490011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sz="60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1" name="TextBox 31"/>
            <p:cNvSpPr txBox="1"/>
            <p:nvPr/>
          </p:nvSpPr>
          <p:spPr>
            <a:xfrm>
              <a:off x="8095418" y="1722612"/>
              <a:ext cx="6280761" cy="846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800" b="1" dirty="0">
                  <a:solidFill>
                    <a:srgbClr val="20202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 Unicode Bold"/>
                  <a:sym typeface="Arial Unicode Bold"/>
                </a:rPr>
                <a:t>Agenda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560950" y="6120611"/>
            <a:ext cx="1278791" cy="519285"/>
            <a:chOff x="0" y="0"/>
            <a:chExt cx="2557581" cy="103857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87570"/>
              <a:ext cx="2557581" cy="951000"/>
              <a:chOff x="0" y="0"/>
              <a:chExt cx="505201" cy="1878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05201" cy="22595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0"/>
              <a:ext cx="2557581" cy="951000"/>
              <a:chOff x="0" y="0"/>
              <a:chExt cx="505201" cy="18785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FFF6E9"/>
              </a:solidFill>
              <a:ln w="28575" cap="sq">
                <a:solidFill>
                  <a:srgbClr val="333333"/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28575"/>
                <a:ext cx="505201" cy="21642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>
                  <a:lnSpc>
                    <a:spcPts val="205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440616" y="275224"/>
              <a:ext cx="1399085" cy="487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2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lata"/>
                  <a:sym typeface="Alata"/>
                </a:rPr>
                <a:t>Page - </a:t>
              </a:r>
            </a:p>
          </p:txBody>
        </p:sp>
      </p:grpSp>
      <p:sp>
        <p:nvSpPr>
          <p:cNvPr id="40" name="投影片編號版面配置區 39">
            <a:extLst>
              <a:ext uri="{FF2B5EF4-FFF2-40B4-BE49-F238E27FC236}">
                <a16:creationId xmlns:a16="http://schemas.microsoft.com/office/drawing/2014/main" id="{4208C645-F1E0-D444-9693-F514DFB2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1988" y="6279035"/>
            <a:ext cx="2743200" cy="246221"/>
          </a:xfrm>
        </p:spPr>
        <p:txBody>
          <a:bodyPr vert="horz" lIns="120000" tIns="0" rIns="121920" bIns="60960" rtlCol="0" anchor="ctr">
            <a:noAutofit/>
          </a:bodyPr>
          <a:lstStyle/>
          <a:p>
            <a:fld id="{B6F15528-21DE-4FAA-801E-634DDDAF4B2B}" type="slidenum">
              <a:rPr lang="en-US" b="1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pPr/>
              <a:t>2</a:t>
            </a:fld>
            <a:endParaRPr lang="en-US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C49C0E29-A780-8843-A066-66E34C3E30BC}"/>
              </a:ext>
            </a:extLst>
          </p:cNvPr>
          <p:cNvGrpSpPr/>
          <p:nvPr/>
        </p:nvGrpSpPr>
        <p:grpSpPr>
          <a:xfrm>
            <a:off x="5802694" y="3920107"/>
            <a:ext cx="3284449" cy="586613"/>
            <a:chOff x="8704040" y="3919469"/>
            <a:chExt cx="4926673" cy="879920"/>
          </a:xfrm>
        </p:grpSpPr>
        <p:sp>
          <p:nvSpPr>
            <p:cNvPr id="52" name="TextBox 9">
              <a:extLst>
                <a:ext uri="{FF2B5EF4-FFF2-40B4-BE49-F238E27FC236}">
                  <a16:creationId xmlns:a16="http://schemas.microsoft.com/office/drawing/2014/main" id="{2735DAE3-A62B-0D4D-BBEA-A5CA8BB18E87}"/>
                </a:ext>
              </a:extLst>
            </p:cNvPr>
            <p:cNvSpPr txBox="1"/>
            <p:nvPr/>
          </p:nvSpPr>
          <p:spPr>
            <a:xfrm>
              <a:off x="10600792" y="4051653"/>
              <a:ext cx="3029921" cy="6156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2667" b="1" spc="400" dirty="0" err="1">
                  <a:solidFill>
                    <a:srgbClr val="20202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 Unicode Bold"/>
                  <a:sym typeface="Arial Unicode Bold"/>
                </a:rPr>
                <a:t>標籤定義</a:t>
              </a:r>
              <a:endParaRPr lang="en-US" sz="2667" b="1" spc="400" dirty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endParaRPr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99C47775-5AE7-F84C-B086-51B511E2387E}"/>
                </a:ext>
              </a:extLst>
            </p:cNvPr>
            <p:cNvGrpSpPr/>
            <p:nvPr/>
          </p:nvGrpSpPr>
          <p:grpSpPr>
            <a:xfrm>
              <a:off x="8704040" y="3919469"/>
              <a:ext cx="879920" cy="879920"/>
              <a:chOff x="9124801" y="3908753"/>
              <a:chExt cx="879920" cy="87992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B6C11AC-C8B7-7D47-9D05-A0663D6088D4}"/>
                  </a:ext>
                </a:extLst>
              </p:cNvPr>
              <p:cNvSpPr/>
              <p:nvPr/>
            </p:nvSpPr>
            <p:spPr>
              <a:xfrm>
                <a:off x="9124801" y="3908753"/>
                <a:ext cx="879920" cy="879920"/>
              </a:xfrm>
              <a:custGeom>
                <a:avLst/>
                <a:gdLst/>
                <a:ahLst/>
                <a:cxnLst/>
                <a:rect l="l" t="t" r="r" b="b"/>
                <a:pathLst>
                  <a:path w="1557155" h="1557155">
                    <a:moveTo>
                      <a:pt x="105581" y="0"/>
                    </a:moveTo>
                    <a:lnTo>
                      <a:pt x="1451574" y="0"/>
                    </a:lnTo>
                    <a:cubicBezTo>
                      <a:pt x="1509885" y="0"/>
                      <a:pt x="1557155" y="47270"/>
                      <a:pt x="1557155" y="105581"/>
                    </a:cubicBezTo>
                    <a:lnTo>
                      <a:pt x="1557155" y="1451574"/>
                    </a:lnTo>
                    <a:cubicBezTo>
                      <a:pt x="1557155" y="1509885"/>
                      <a:pt x="1509885" y="1557155"/>
                      <a:pt x="1451574" y="1557155"/>
                    </a:cubicBezTo>
                    <a:lnTo>
                      <a:pt x="105581" y="1557155"/>
                    </a:lnTo>
                    <a:cubicBezTo>
                      <a:pt x="47270" y="1557155"/>
                      <a:pt x="0" y="1509885"/>
                      <a:pt x="0" y="1451574"/>
                    </a:cubicBezTo>
                    <a:lnTo>
                      <a:pt x="0" y="105581"/>
                    </a:lnTo>
                    <a:cubicBezTo>
                      <a:pt x="0" y="47270"/>
                      <a:pt x="47270" y="0"/>
                      <a:pt x="10558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TextBox 13">
                <a:extLst>
                  <a:ext uri="{FF2B5EF4-FFF2-40B4-BE49-F238E27FC236}">
                    <a16:creationId xmlns:a16="http://schemas.microsoft.com/office/drawing/2014/main" id="{ACF79743-4A4B-9E4E-8364-116A4C1E81CE}"/>
                  </a:ext>
                </a:extLst>
              </p:cNvPr>
              <p:cNvSpPr txBox="1"/>
              <p:nvPr/>
            </p:nvSpPr>
            <p:spPr>
              <a:xfrm>
                <a:off x="9124801" y="3914136"/>
                <a:ext cx="879920" cy="8691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93"/>
                  </a:lnSpc>
                </a:pPr>
                <a:endParaRPr sz="1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6" name="TextBox 14">
                <a:extLst>
                  <a:ext uri="{FF2B5EF4-FFF2-40B4-BE49-F238E27FC236}">
                    <a16:creationId xmlns:a16="http://schemas.microsoft.com/office/drawing/2014/main" id="{551CE3F4-760E-A342-8619-2B8C4AEF970A}"/>
                  </a:ext>
                </a:extLst>
              </p:cNvPr>
              <p:cNvSpPr txBox="1"/>
              <p:nvPr/>
            </p:nvSpPr>
            <p:spPr>
              <a:xfrm>
                <a:off x="9135051" y="4071715"/>
                <a:ext cx="859422" cy="5539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20202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 Unicode Bold"/>
                    <a:sym typeface="Arial Unicode Bold"/>
                  </a:rPr>
                  <a:t>0</a:t>
                </a:r>
                <a:r>
                  <a:rPr lang="en-US" altLang="zh-TW" sz="2400" b="1" dirty="0">
                    <a:solidFill>
                      <a:srgbClr val="20202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 Unicode Bold"/>
                    <a:sym typeface="Arial Unicode Bold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32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66826">
            <a:off x="-309010" y="-229265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60446" y="5970817"/>
            <a:ext cx="2430940" cy="24309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9777" y="5135421"/>
            <a:ext cx="2430940" cy="2430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" y="5746763"/>
            <a:ext cx="1174492" cy="1111237"/>
            <a:chOff x="0" y="0"/>
            <a:chExt cx="463997" cy="4390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997" cy="439007"/>
            </a:xfrm>
            <a:custGeom>
              <a:avLst/>
              <a:gdLst/>
              <a:ahLst/>
              <a:cxnLst/>
              <a:rect l="l" t="t" r="r" b="b"/>
              <a:pathLst>
                <a:path w="463997" h="439007">
                  <a:moveTo>
                    <a:pt x="0" y="0"/>
                  </a:moveTo>
                  <a:lnTo>
                    <a:pt x="463997" y="0"/>
                  </a:lnTo>
                  <a:lnTo>
                    <a:pt x="463997" y="439007"/>
                  </a:lnTo>
                  <a:lnTo>
                    <a:pt x="0" y="439007"/>
                  </a:lnTo>
                  <a:close/>
                </a:path>
              </a:pathLst>
            </a:custGeom>
            <a:solidFill>
              <a:srgbClr val="FFD0A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63997" cy="4104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6200" y="-338438"/>
            <a:ext cx="1004491" cy="10044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5111" y="2936876"/>
            <a:ext cx="1046177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sz="5333" b="1" dirty="0" err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標籤敘事</a:t>
            </a:r>
            <a:endParaRPr lang="en-US" sz="5333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</p:spTree>
    <p:extLst>
      <p:ext uri="{BB962C8B-B14F-4D97-AF65-F5344CB8AC3E}">
        <p14:creationId xmlns:p14="http://schemas.microsoft.com/office/powerpoint/2010/main" val="144398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4393" y="3104422"/>
            <a:ext cx="2207609" cy="3753580"/>
            <a:chOff x="0" y="0"/>
            <a:chExt cx="872142" cy="1482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142" cy="1482895"/>
            </a:xfrm>
            <a:custGeom>
              <a:avLst/>
              <a:gdLst/>
              <a:ahLst/>
              <a:cxnLst/>
              <a:rect l="l" t="t" r="r" b="b"/>
              <a:pathLst>
                <a:path w="872142" h="1482895">
                  <a:moveTo>
                    <a:pt x="0" y="0"/>
                  </a:moveTo>
                  <a:lnTo>
                    <a:pt x="872142" y="0"/>
                  </a:lnTo>
                  <a:lnTo>
                    <a:pt x="872142" y="1482895"/>
                  </a:lnTo>
                  <a:lnTo>
                    <a:pt x="0" y="1482895"/>
                  </a:lnTo>
                  <a:close/>
                </a:path>
              </a:pathLst>
            </a:custGeom>
            <a:solidFill>
              <a:srgbClr val="EECE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872142" cy="14543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15470" y="5642531"/>
            <a:ext cx="2430940" cy="24309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480785" y="5815142"/>
            <a:ext cx="739348" cy="738004"/>
          </a:xfrm>
          <a:custGeom>
            <a:avLst/>
            <a:gdLst/>
            <a:ahLst/>
            <a:cxnLst/>
            <a:rect l="l" t="t" r="r" b="b"/>
            <a:pathLst>
              <a:path w="1109022" h="1107006">
                <a:moveTo>
                  <a:pt x="0" y="0"/>
                </a:moveTo>
                <a:lnTo>
                  <a:pt x="1109023" y="0"/>
                </a:lnTo>
                <a:lnTo>
                  <a:pt x="1109023" y="1107006"/>
                </a:lnTo>
                <a:lnTo>
                  <a:pt x="0" y="110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84571" y="5791257"/>
            <a:ext cx="658775" cy="6587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 b="1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7780" y="238761"/>
            <a:ext cx="800548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en-US" altLang="zh-TW" sz="3200" b="1" dirty="0" err="1">
                <a:solidFill>
                  <a:srgbClr val="F390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標籤</a:t>
            </a:r>
            <a:r>
              <a:rPr lang="zh-TW" altLang="en-US" sz="3200" b="1" dirty="0">
                <a:solidFill>
                  <a:srgbClr val="F390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敘事</a:t>
            </a:r>
            <a:endParaRPr lang="en-US" altLang="zh-TW" sz="3200" b="1" dirty="0">
              <a:solidFill>
                <a:srgbClr val="F3904B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847369"/>
            <a:ext cx="12192000" cy="0"/>
          </a:xfrm>
          <a:prstGeom prst="line">
            <a:avLst/>
          </a:prstGeom>
          <a:ln w="9525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1CABABC-C5B9-B84C-BFB0-67906BA7A4FE}"/>
              </a:ext>
            </a:extLst>
          </p:cNvPr>
          <p:cNvSpPr txBox="1"/>
          <p:nvPr/>
        </p:nvSpPr>
        <p:spPr>
          <a:xfrm>
            <a:off x="1552108" y="1693586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“</a:t>
            </a:r>
            <a:r>
              <a:rPr lang="zh-TW" altLang="en-US" sz="24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針對這個標籤的規畫做一個說明</a:t>
            </a:r>
            <a:r>
              <a:rPr lang="en-US" altLang="zh-TW" sz="24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”</a:t>
            </a:r>
            <a:endParaRPr lang="en-US" sz="2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28" name="Group 32">
            <a:extLst>
              <a:ext uri="{FF2B5EF4-FFF2-40B4-BE49-F238E27FC236}">
                <a16:creationId xmlns:a16="http://schemas.microsoft.com/office/drawing/2014/main" id="{2B64DD3E-990B-9F48-A75A-CED25E2AF083}"/>
              </a:ext>
            </a:extLst>
          </p:cNvPr>
          <p:cNvGrpSpPr/>
          <p:nvPr/>
        </p:nvGrpSpPr>
        <p:grpSpPr>
          <a:xfrm>
            <a:off x="10560950" y="6120611"/>
            <a:ext cx="1278791" cy="519285"/>
            <a:chOff x="0" y="0"/>
            <a:chExt cx="2557581" cy="1038570"/>
          </a:xfrm>
        </p:grpSpPr>
        <p:grpSp>
          <p:nvGrpSpPr>
            <p:cNvPr id="29" name="Group 33">
              <a:extLst>
                <a:ext uri="{FF2B5EF4-FFF2-40B4-BE49-F238E27FC236}">
                  <a16:creationId xmlns:a16="http://schemas.microsoft.com/office/drawing/2014/main" id="{44185773-D1E7-F84C-BA4D-74811B6D3359}"/>
                </a:ext>
              </a:extLst>
            </p:cNvPr>
            <p:cNvGrpSpPr/>
            <p:nvPr/>
          </p:nvGrpSpPr>
          <p:grpSpPr>
            <a:xfrm>
              <a:off x="0" y="87570"/>
              <a:ext cx="2557581" cy="951000"/>
              <a:chOff x="0" y="0"/>
              <a:chExt cx="505201" cy="187852"/>
            </a:xfrm>
          </p:grpSpPr>
          <p:sp>
            <p:nvSpPr>
              <p:cNvPr id="34" name="Freeform 34">
                <a:extLst>
                  <a:ext uri="{FF2B5EF4-FFF2-40B4-BE49-F238E27FC236}">
                    <a16:creationId xmlns:a16="http://schemas.microsoft.com/office/drawing/2014/main" id="{D341C58B-68B7-874A-9B61-7DEA000C2C28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>
                <a:extLst>
                  <a:ext uri="{FF2B5EF4-FFF2-40B4-BE49-F238E27FC236}">
                    <a16:creationId xmlns:a16="http://schemas.microsoft.com/office/drawing/2014/main" id="{ADCD5A0A-2412-B045-B8EB-AE4A63335D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05201" cy="22595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30" name="Group 36">
              <a:extLst>
                <a:ext uri="{FF2B5EF4-FFF2-40B4-BE49-F238E27FC236}">
                  <a16:creationId xmlns:a16="http://schemas.microsoft.com/office/drawing/2014/main" id="{0CFCE955-0EA7-DF4F-BA0C-413B48644AA0}"/>
                </a:ext>
              </a:extLst>
            </p:cNvPr>
            <p:cNvGrpSpPr/>
            <p:nvPr/>
          </p:nvGrpSpPr>
          <p:grpSpPr>
            <a:xfrm>
              <a:off x="0" y="0"/>
              <a:ext cx="2557581" cy="951000"/>
              <a:chOff x="0" y="0"/>
              <a:chExt cx="505201" cy="187852"/>
            </a:xfrm>
          </p:grpSpPr>
          <p:sp>
            <p:nvSpPr>
              <p:cNvPr id="32" name="Freeform 37">
                <a:extLst>
                  <a:ext uri="{FF2B5EF4-FFF2-40B4-BE49-F238E27FC236}">
                    <a16:creationId xmlns:a16="http://schemas.microsoft.com/office/drawing/2014/main" id="{D7F35DB8-5AF2-A341-AC48-15C745745C82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FFF6E9"/>
              </a:solidFill>
              <a:ln w="28575" cap="sq">
                <a:solidFill>
                  <a:srgbClr val="333333"/>
                </a:solidFill>
                <a:prstDash val="solid"/>
                <a:miter/>
              </a:ln>
            </p:spPr>
          </p:sp>
          <p:sp>
            <p:nvSpPr>
              <p:cNvPr id="33" name="TextBox 38">
                <a:extLst>
                  <a:ext uri="{FF2B5EF4-FFF2-40B4-BE49-F238E27FC236}">
                    <a16:creationId xmlns:a16="http://schemas.microsoft.com/office/drawing/2014/main" id="{6E75ECFA-8ED6-AF42-A7D4-EE63EA4D246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05201" cy="21642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>
                  <a:lnSpc>
                    <a:spcPts val="205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7BB7638-A948-9D4C-BFB4-B97964ED1C7F}"/>
                </a:ext>
              </a:extLst>
            </p:cNvPr>
            <p:cNvSpPr txBox="1"/>
            <p:nvPr/>
          </p:nvSpPr>
          <p:spPr>
            <a:xfrm>
              <a:off x="440616" y="275224"/>
              <a:ext cx="1399085" cy="487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2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lata"/>
                  <a:sym typeface="Alata"/>
                </a:rPr>
                <a:t>Page - </a:t>
              </a:r>
            </a:p>
          </p:txBody>
        </p:sp>
      </p:grpSp>
      <p:sp>
        <p:nvSpPr>
          <p:cNvPr id="36" name="投影片編號版面配置區 39">
            <a:extLst>
              <a:ext uri="{FF2B5EF4-FFF2-40B4-BE49-F238E27FC236}">
                <a16:creationId xmlns:a16="http://schemas.microsoft.com/office/drawing/2014/main" id="{036E6A5C-0D9A-4242-834B-2F5445DF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1988" y="6279035"/>
            <a:ext cx="2743200" cy="246221"/>
          </a:xfrm>
        </p:spPr>
        <p:txBody>
          <a:bodyPr vert="horz" lIns="120000" tIns="0" rIns="121920" bIns="60960" rtlCol="0" anchor="ctr">
            <a:noAutofit/>
          </a:bodyPr>
          <a:lstStyle/>
          <a:p>
            <a:fld id="{B6F15528-21DE-4FAA-801E-634DDDAF4B2B}" type="slidenum">
              <a:rPr lang="en-US" b="1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pPr/>
              <a:t>4</a:t>
            </a:fld>
            <a:endParaRPr lang="en-US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110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66826">
            <a:off x="-309010" y="-229265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60446" y="5970817"/>
            <a:ext cx="2430940" cy="24309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9777" y="5135421"/>
            <a:ext cx="2430940" cy="2430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" y="5746763"/>
            <a:ext cx="1174492" cy="1111237"/>
            <a:chOff x="0" y="0"/>
            <a:chExt cx="463997" cy="4390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997" cy="439007"/>
            </a:xfrm>
            <a:custGeom>
              <a:avLst/>
              <a:gdLst/>
              <a:ahLst/>
              <a:cxnLst/>
              <a:rect l="l" t="t" r="r" b="b"/>
              <a:pathLst>
                <a:path w="463997" h="439007">
                  <a:moveTo>
                    <a:pt x="0" y="0"/>
                  </a:moveTo>
                  <a:lnTo>
                    <a:pt x="463997" y="0"/>
                  </a:lnTo>
                  <a:lnTo>
                    <a:pt x="463997" y="439007"/>
                  </a:lnTo>
                  <a:lnTo>
                    <a:pt x="0" y="439007"/>
                  </a:lnTo>
                  <a:close/>
                </a:path>
              </a:pathLst>
            </a:custGeom>
            <a:solidFill>
              <a:srgbClr val="FFD0A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63997" cy="4104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6200" y="-338438"/>
            <a:ext cx="1004491" cy="10044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5111" y="2936876"/>
            <a:ext cx="1046177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sz="5333" b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標籤定義</a:t>
            </a:r>
          </a:p>
        </p:txBody>
      </p:sp>
    </p:spTree>
    <p:extLst>
      <p:ext uri="{BB962C8B-B14F-4D97-AF65-F5344CB8AC3E}">
        <p14:creationId xmlns:p14="http://schemas.microsoft.com/office/powerpoint/2010/main" val="120301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66826">
            <a:off x="-309010" y="-229265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60446" y="5970817"/>
            <a:ext cx="2430940" cy="24309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9777" y="5135421"/>
            <a:ext cx="2430940" cy="2430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" y="5746763"/>
            <a:ext cx="1174492" cy="1111237"/>
            <a:chOff x="0" y="0"/>
            <a:chExt cx="463997" cy="4390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997" cy="439007"/>
            </a:xfrm>
            <a:custGeom>
              <a:avLst/>
              <a:gdLst/>
              <a:ahLst/>
              <a:cxnLst/>
              <a:rect l="l" t="t" r="r" b="b"/>
              <a:pathLst>
                <a:path w="463997" h="439007">
                  <a:moveTo>
                    <a:pt x="0" y="0"/>
                  </a:moveTo>
                  <a:lnTo>
                    <a:pt x="463997" y="0"/>
                  </a:lnTo>
                  <a:lnTo>
                    <a:pt x="463997" y="439007"/>
                  </a:lnTo>
                  <a:lnTo>
                    <a:pt x="0" y="439007"/>
                  </a:lnTo>
                  <a:close/>
                </a:path>
              </a:pathLst>
            </a:custGeom>
            <a:solidFill>
              <a:srgbClr val="FFD0A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63997" cy="4104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6200" y="-338438"/>
            <a:ext cx="1004491" cy="10044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21446" y="2804034"/>
            <a:ext cx="3549109" cy="1249933"/>
            <a:chOff x="0" y="0"/>
            <a:chExt cx="7098218" cy="2499867"/>
          </a:xfrm>
        </p:grpSpPr>
        <p:grpSp>
          <p:nvGrpSpPr>
            <p:cNvPr id="16" name="Group 16"/>
            <p:cNvGrpSpPr/>
            <p:nvPr/>
          </p:nvGrpSpPr>
          <p:grpSpPr>
            <a:xfrm>
              <a:off x="203200" y="212067"/>
              <a:ext cx="6895018" cy="2287800"/>
              <a:chOff x="0" y="0"/>
              <a:chExt cx="1361979" cy="45191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61979" cy="451911"/>
              </a:xfrm>
              <a:custGeom>
                <a:avLst/>
                <a:gdLst/>
                <a:ahLst/>
                <a:cxnLst/>
                <a:rect l="l" t="t" r="r" b="b"/>
                <a:pathLst>
                  <a:path w="1361979" h="451911">
                    <a:moveTo>
                      <a:pt x="25451" y="0"/>
                    </a:moveTo>
                    <a:lnTo>
                      <a:pt x="1336528" y="0"/>
                    </a:lnTo>
                    <a:cubicBezTo>
                      <a:pt x="1343278" y="0"/>
                      <a:pt x="1349752" y="2681"/>
                      <a:pt x="1354524" y="7454"/>
                    </a:cubicBezTo>
                    <a:cubicBezTo>
                      <a:pt x="1359297" y="12227"/>
                      <a:pt x="1361979" y="18701"/>
                      <a:pt x="1361979" y="25451"/>
                    </a:cubicBezTo>
                    <a:lnTo>
                      <a:pt x="1361979" y="426460"/>
                    </a:lnTo>
                    <a:cubicBezTo>
                      <a:pt x="1361979" y="440516"/>
                      <a:pt x="1350584" y="451911"/>
                      <a:pt x="1336528" y="451911"/>
                    </a:cubicBezTo>
                    <a:lnTo>
                      <a:pt x="25451" y="451911"/>
                    </a:lnTo>
                    <a:cubicBezTo>
                      <a:pt x="18701" y="451911"/>
                      <a:pt x="12227" y="449230"/>
                      <a:pt x="7454" y="444457"/>
                    </a:cubicBezTo>
                    <a:cubicBezTo>
                      <a:pt x="2681" y="439684"/>
                      <a:pt x="0" y="433210"/>
                      <a:pt x="0" y="426460"/>
                    </a:cubicBezTo>
                    <a:lnTo>
                      <a:pt x="0" y="25451"/>
                    </a:lnTo>
                    <a:cubicBezTo>
                      <a:pt x="0" y="18701"/>
                      <a:pt x="2681" y="12227"/>
                      <a:pt x="7454" y="7454"/>
                    </a:cubicBezTo>
                    <a:cubicBezTo>
                      <a:pt x="12227" y="2681"/>
                      <a:pt x="18701" y="0"/>
                      <a:pt x="2545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361979" cy="4900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7"/>
                  </a:lnSpc>
                </a:pPr>
                <a:endParaRPr sz="60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895018" cy="2287800"/>
              <a:chOff x="0" y="0"/>
              <a:chExt cx="1361979" cy="45191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361979" cy="451911"/>
              </a:xfrm>
              <a:custGeom>
                <a:avLst/>
                <a:gdLst/>
                <a:ahLst/>
                <a:cxnLst/>
                <a:rect l="l" t="t" r="r" b="b"/>
                <a:pathLst>
                  <a:path w="1361979" h="451911">
                    <a:moveTo>
                      <a:pt x="25451" y="0"/>
                    </a:moveTo>
                    <a:lnTo>
                      <a:pt x="1336528" y="0"/>
                    </a:lnTo>
                    <a:cubicBezTo>
                      <a:pt x="1343278" y="0"/>
                      <a:pt x="1349752" y="2681"/>
                      <a:pt x="1354524" y="7454"/>
                    </a:cubicBezTo>
                    <a:cubicBezTo>
                      <a:pt x="1359297" y="12227"/>
                      <a:pt x="1361979" y="18701"/>
                      <a:pt x="1361979" y="25451"/>
                    </a:cubicBezTo>
                    <a:lnTo>
                      <a:pt x="1361979" y="426460"/>
                    </a:lnTo>
                    <a:cubicBezTo>
                      <a:pt x="1361979" y="440516"/>
                      <a:pt x="1350584" y="451911"/>
                      <a:pt x="1336528" y="451911"/>
                    </a:cubicBezTo>
                    <a:lnTo>
                      <a:pt x="25451" y="451911"/>
                    </a:lnTo>
                    <a:cubicBezTo>
                      <a:pt x="18701" y="451911"/>
                      <a:pt x="12227" y="449230"/>
                      <a:pt x="7454" y="444457"/>
                    </a:cubicBezTo>
                    <a:cubicBezTo>
                      <a:pt x="2681" y="439684"/>
                      <a:pt x="0" y="433210"/>
                      <a:pt x="0" y="426460"/>
                    </a:cubicBezTo>
                    <a:lnTo>
                      <a:pt x="0" y="25451"/>
                    </a:lnTo>
                    <a:cubicBezTo>
                      <a:pt x="0" y="18701"/>
                      <a:pt x="2681" y="12227"/>
                      <a:pt x="7454" y="7454"/>
                    </a:cubicBezTo>
                    <a:cubicBezTo>
                      <a:pt x="12227" y="2681"/>
                      <a:pt x="18701" y="0"/>
                      <a:pt x="25451" y="0"/>
                    </a:cubicBezTo>
                    <a:close/>
                  </a:path>
                </a:pathLst>
              </a:custGeom>
              <a:solidFill>
                <a:srgbClr val="FBE5D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361979" cy="4900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7"/>
                  </a:lnSpc>
                </a:pPr>
                <a:endParaRPr sz="60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865111" y="2936876"/>
            <a:ext cx="10461779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altLang="zh-TW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“</a:t>
            </a:r>
            <a:r>
              <a:rPr lang="zh-TW" altLang="en-US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內容</a:t>
            </a:r>
            <a:r>
              <a:rPr lang="en-US" altLang="zh-TW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1”</a:t>
            </a:r>
            <a:endParaRPr lang="en-US" sz="5333" b="1" dirty="0">
              <a:solidFill>
                <a:srgbClr val="20202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</p:spTree>
    <p:extLst>
      <p:ext uri="{BB962C8B-B14F-4D97-AF65-F5344CB8AC3E}">
        <p14:creationId xmlns:p14="http://schemas.microsoft.com/office/powerpoint/2010/main" val="375579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4393" y="3104422"/>
            <a:ext cx="2207609" cy="3753580"/>
            <a:chOff x="0" y="0"/>
            <a:chExt cx="872142" cy="1482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142" cy="1482895"/>
            </a:xfrm>
            <a:custGeom>
              <a:avLst/>
              <a:gdLst/>
              <a:ahLst/>
              <a:cxnLst/>
              <a:rect l="l" t="t" r="r" b="b"/>
              <a:pathLst>
                <a:path w="872142" h="1482895">
                  <a:moveTo>
                    <a:pt x="0" y="0"/>
                  </a:moveTo>
                  <a:lnTo>
                    <a:pt x="872142" y="0"/>
                  </a:lnTo>
                  <a:lnTo>
                    <a:pt x="872142" y="1482895"/>
                  </a:lnTo>
                  <a:lnTo>
                    <a:pt x="0" y="1482895"/>
                  </a:lnTo>
                  <a:close/>
                </a:path>
              </a:pathLst>
            </a:custGeom>
            <a:solidFill>
              <a:srgbClr val="EECE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872142" cy="14543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7780" y="238761"/>
            <a:ext cx="800548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en-US" sz="3200" b="1" dirty="0" err="1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新增標籤</a:t>
            </a:r>
            <a:r>
              <a:rPr lang="en-US" sz="3200" b="1" dirty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 </a:t>
            </a:r>
            <a:r>
              <a:rPr 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–</a:t>
            </a:r>
            <a:r>
              <a:rPr lang="zh-TW" alt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 </a:t>
            </a:r>
            <a:r>
              <a:rPr 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”</a:t>
            </a:r>
            <a:r>
              <a:rPr lang="zh-TW" alt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內容</a:t>
            </a:r>
            <a:r>
              <a:rPr lang="en-US" altLang="zh-TW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1“</a:t>
            </a:r>
            <a:endParaRPr lang="en-US" sz="3200" b="1" dirty="0">
              <a:solidFill>
                <a:srgbClr val="EF713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847369"/>
            <a:ext cx="12192000" cy="0"/>
          </a:xfrm>
          <a:prstGeom prst="line">
            <a:avLst/>
          </a:prstGeom>
          <a:ln w="9525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32">
            <a:extLst>
              <a:ext uri="{FF2B5EF4-FFF2-40B4-BE49-F238E27FC236}">
                <a16:creationId xmlns:a16="http://schemas.microsoft.com/office/drawing/2014/main" id="{A8FF7A55-C355-5345-A546-7F8759F9BF7E}"/>
              </a:ext>
            </a:extLst>
          </p:cNvPr>
          <p:cNvGrpSpPr/>
          <p:nvPr/>
        </p:nvGrpSpPr>
        <p:grpSpPr>
          <a:xfrm>
            <a:off x="10560950" y="6120611"/>
            <a:ext cx="1278791" cy="519285"/>
            <a:chOff x="0" y="0"/>
            <a:chExt cx="2557581" cy="1038570"/>
          </a:xfrm>
        </p:grpSpPr>
        <p:grpSp>
          <p:nvGrpSpPr>
            <p:cNvPr id="26" name="Group 33">
              <a:extLst>
                <a:ext uri="{FF2B5EF4-FFF2-40B4-BE49-F238E27FC236}">
                  <a16:creationId xmlns:a16="http://schemas.microsoft.com/office/drawing/2014/main" id="{BFC57449-A0C7-794A-B560-EBE79D39A7DE}"/>
                </a:ext>
              </a:extLst>
            </p:cNvPr>
            <p:cNvGrpSpPr/>
            <p:nvPr/>
          </p:nvGrpSpPr>
          <p:grpSpPr>
            <a:xfrm>
              <a:off x="0" y="87570"/>
              <a:ext cx="2557581" cy="951000"/>
              <a:chOff x="0" y="0"/>
              <a:chExt cx="505201" cy="187852"/>
            </a:xfrm>
          </p:grpSpPr>
          <p:sp>
            <p:nvSpPr>
              <p:cNvPr id="31" name="Freeform 34">
                <a:extLst>
                  <a:ext uri="{FF2B5EF4-FFF2-40B4-BE49-F238E27FC236}">
                    <a16:creationId xmlns:a16="http://schemas.microsoft.com/office/drawing/2014/main" id="{F22D5BE8-B4D8-C541-BA6D-044CAC7A424B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5">
                <a:extLst>
                  <a:ext uri="{FF2B5EF4-FFF2-40B4-BE49-F238E27FC236}">
                    <a16:creationId xmlns:a16="http://schemas.microsoft.com/office/drawing/2014/main" id="{DC7A8A97-3948-9E4B-A930-4837216234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05201" cy="22595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AF857454-4147-B74F-93D5-3BFCC4E1D0BE}"/>
                </a:ext>
              </a:extLst>
            </p:cNvPr>
            <p:cNvGrpSpPr/>
            <p:nvPr/>
          </p:nvGrpSpPr>
          <p:grpSpPr>
            <a:xfrm>
              <a:off x="0" y="0"/>
              <a:ext cx="2557581" cy="951000"/>
              <a:chOff x="0" y="0"/>
              <a:chExt cx="505201" cy="187852"/>
            </a:xfrm>
          </p:grpSpPr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246F9118-AAF3-E247-8C88-CBF215366605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FFF6E9"/>
              </a:solidFill>
              <a:ln w="28575" cap="sq">
                <a:solidFill>
                  <a:srgbClr val="333333"/>
                </a:solidFill>
                <a:prstDash val="solid"/>
                <a:miter/>
              </a:ln>
            </p:spPr>
          </p:sp>
          <p:sp>
            <p:nvSpPr>
              <p:cNvPr id="30" name="TextBox 38">
                <a:extLst>
                  <a:ext uri="{FF2B5EF4-FFF2-40B4-BE49-F238E27FC236}">
                    <a16:creationId xmlns:a16="http://schemas.microsoft.com/office/drawing/2014/main" id="{E71D8F6E-DF82-8D43-AD7B-8CE10FC31F6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05201" cy="21642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>
                  <a:lnSpc>
                    <a:spcPts val="205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28" name="TextBox 39">
              <a:extLst>
                <a:ext uri="{FF2B5EF4-FFF2-40B4-BE49-F238E27FC236}">
                  <a16:creationId xmlns:a16="http://schemas.microsoft.com/office/drawing/2014/main" id="{31B45669-1639-B24B-B95F-0653BE1CEB11}"/>
                </a:ext>
              </a:extLst>
            </p:cNvPr>
            <p:cNvSpPr txBox="1"/>
            <p:nvPr/>
          </p:nvSpPr>
          <p:spPr>
            <a:xfrm>
              <a:off x="440616" y="275224"/>
              <a:ext cx="1399085" cy="487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2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lata"/>
                  <a:sym typeface="Alata"/>
                </a:rPr>
                <a:t>Page - </a:t>
              </a:r>
            </a:p>
          </p:txBody>
        </p:sp>
      </p:grpSp>
      <p:sp>
        <p:nvSpPr>
          <p:cNvPr id="33" name="投影片編號版面配置區 39">
            <a:extLst>
              <a:ext uri="{FF2B5EF4-FFF2-40B4-BE49-F238E27FC236}">
                <a16:creationId xmlns:a16="http://schemas.microsoft.com/office/drawing/2014/main" id="{E8EECB90-078D-6943-8670-92BE63C5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1988" y="6279035"/>
            <a:ext cx="2743200" cy="246221"/>
          </a:xfrm>
        </p:spPr>
        <p:txBody>
          <a:bodyPr vert="horz" lIns="120000" tIns="0" rIns="121920" bIns="60960" rtlCol="0" anchor="ctr">
            <a:noAutofit/>
          </a:bodyPr>
          <a:lstStyle/>
          <a:p>
            <a:fld id="{B6F15528-21DE-4FAA-801E-634DDDAF4B2B}" type="slidenum">
              <a:rPr lang="en-US" b="1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pPr/>
              <a:t>7</a:t>
            </a:fld>
            <a:endParaRPr lang="en-US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1834436-7ACD-F944-AAF2-987A7294C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15779"/>
              </p:ext>
            </p:extLst>
          </p:nvPr>
        </p:nvGraphicFramePr>
        <p:xfrm>
          <a:off x="336000" y="1163376"/>
          <a:ext cx="10800000" cy="44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077516906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792578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675697528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店家名稱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簡述內容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資料來源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(“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如果是網址，請把它變成是以超連結方式呈現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”)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9508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CHATGPT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OPENAI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84901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CLAUDE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ANTROPIC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028048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CANVA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09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GEMINI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GOOGLE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ONE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GOOGLE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CLOUD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金額</a:t>
                      </a:r>
                      <a:r>
                        <a:rPr lang="en-US" altLang="zh-TW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&gt;=300</a:t>
                      </a:r>
                      <a:r>
                        <a:rPr lang="zh-TW" altLang="en-US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排除訂閱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100GB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，僅升級雲端空間的用戶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" action="ppaction://noaction"/>
                        </a:rPr>
                        <a:t>**補充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23588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68816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9303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14368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60412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57842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52833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76678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470495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53458A4B-D9A4-FB49-93A4-D70BD47AA440}"/>
              </a:ext>
            </a:extLst>
          </p:cNvPr>
          <p:cNvSpPr txBox="1"/>
          <p:nvPr/>
        </p:nvSpPr>
        <p:spPr>
          <a:xfrm>
            <a:off x="1315480" y="5913816"/>
            <a:ext cx="68424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“</a:t>
            </a:r>
            <a:r>
              <a:rPr lang="zh-TW" altLang="en-US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可以針對這個內容，做一個概述，例如找尋的原因、總結</a:t>
            </a: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r>
              <a:rPr lang="zh-TW" altLang="en-US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等，讓閱聽者能一目了然</a:t>
            </a: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”</a:t>
            </a:r>
            <a:endParaRPr lang="zh-TW" alt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箭號: 向右 3">
            <a:extLst>
              <a:ext uri="{FF2B5EF4-FFF2-40B4-BE49-F238E27FC236}">
                <a16:creationId xmlns:a16="http://schemas.microsoft.com/office/drawing/2014/main" id="{286A8708-3A94-1745-B864-05A74CD9C9DC}"/>
              </a:ext>
            </a:extLst>
          </p:cNvPr>
          <p:cNvSpPr/>
          <p:nvPr/>
        </p:nvSpPr>
        <p:spPr>
          <a:xfrm>
            <a:off x="383916" y="6027547"/>
            <a:ext cx="794139" cy="273699"/>
          </a:xfrm>
          <a:prstGeom prst="rightArrow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b="1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88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66826">
            <a:off x="-309010" y="-229265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60446" y="5970817"/>
            <a:ext cx="2430940" cy="24309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9777" y="5135421"/>
            <a:ext cx="2430940" cy="2430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" y="5746763"/>
            <a:ext cx="1174492" cy="1111237"/>
            <a:chOff x="0" y="0"/>
            <a:chExt cx="463997" cy="4390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997" cy="439007"/>
            </a:xfrm>
            <a:custGeom>
              <a:avLst/>
              <a:gdLst/>
              <a:ahLst/>
              <a:cxnLst/>
              <a:rect l="l" t="t" r="r" b="b"/>
              <a:pathLst>
                <a:path w="463997" h="439007">
                  <a:moveTo>
                    <a:pt x="0" y="0"/>
                  </a:moveTo>
                  <a:lnTo>
                    <a:pt x="463997" y="0"/>
                  </a:lnTo>
                  <a:lnTo>
                    <a:pt x="463997" y="439007"/>
                  </a:lnTo>
                  <a:lnTo>
                    <a:pt x="0" y="439007"/>
                  </a:lnTo>
                  <a:close/>
                </a:path>
              </a:pathLst>
            </a:custGeom>
            <a:solidFill>
              <a:srgbClr val="FFD0A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63997" cy="4104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6200" y="-338438"/>
            <a:ext cx="1004491" cy="10044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21446" y="2804034"/>
            <a:ext cx="3549109" cy="1249933"/>
            <a:chOff x="0" y="0"/>
            <a:chExt cx="7098218" cy="2499867"/>
          </a:xfrm>
        </p:grpSpPr>
        <p:grpSp>
          <p:nvGrpSpPr>
            <p:cNvPr id="16" name="Group 16"/>
            <p:cNvGrpSpPr/>
            <p:nvPr/>
          </p:nvGrpSpPr>
          <p:grpSpPr>
            <a:xfrm>
              <a:off x="203200" y="212067"/>
              <a:ext cx="6895018" cy="2287800"/>
              <a:chOff x="0" y="0"/>
              <a:chExt cx="1361979" cy="45191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61979" cy="451911"/>
              </a:xfrm>
              <a:custGeom>
                <a:avLst/>
                <a:gdLst/>
                <a:ahLst/>
                <a:cxnLst/>
                <a:rect l="l" t="t" r="r" b="b"/>
                <a:pathLst>
                  <a:path w="1361979" h="451911">
                    <a:moveTo>
                      <a:pt x="25451" y="0"/>
                    </a:moveTo>
                    <a:lnTo>
                      <a:pt x="1336528" y="0"/>
                    </a:lnTo>
                    <a:cubicBezTo>
                      <a:pt x="1343278" y="0"/>
                      <a:pt x="1349752" y="2681"/>
                      <a:pt x="1354524" y="7454"/>
                    </a:cubicBezTo>
                    <a:cubicBezTo>
                      <a:pt x="1359297" y="12227"/>
                      <a:pt x="1361979" y="18701"/>
                      <a:pt x="1361979" y="25451"/>
                    </a:cubicBezTo>
                    <a:lnTo>
                      <a:pt x="1361979" y="426460"/>
                    </a:lnTo>
                    <a:cubicBezTo>
                      <a:pt x="1361979" y="440516"/>
                      <a:pt x="1350584" y="451911"/>
                      <a:pt x="1336528" y="451911"/>
                    </a:cubicBezTo>
                    <a:lnTo>
                      <a:pt x="25451" y="451911"/>
                    </a:lnTo>
                    <a:cubicBezTo>
                      <a:pt x="18701" y="451911"/>
                      <a:pt x="12227" y="449230"/>
                      <a:pt x="7454" y="444457"/>
                    </a:cubicBezTo>
                    <a:cubicBezTo>
                      <a:pt x="2681" y="439684"/>
                      <a:pt x="0" y="433210"/>
                      <a:pt x="0" y="426460"/>
                    </a:cubicBezTo>
                    <a:lnTo>
                      <a:pt x="0" y="25451"/>
                    </a:lnTo>
                    <a:cubicBezTo>
                      <a:pt x="0" y="18701"/>
                      <a:pt x="2681" y="12227"/>
                      <a:pt x="7454" y="7454"/>
                    </a:cubicBezTo>
                    <a:cubicBezTo>
                      <a:pt x="12227" y="2681"/>
                      <a:pt x="18701" y="0"/>
                      <a:pt x="2545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361979" cy="4900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7"/>
                  </a:lnSpc>
                </a:pPr>
                <a:endParaRPr sz="60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895018" cy="2287800"/>
              <a:chOff x="0" y="0"/>
              <a:chExt cx="1361979" cy="45191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361979" cy="451911"/>
              </a:xfrm>
              <a:custGeom>
                <a:avLst/>
                <a:gdLst/>
                <a:ahLst/>
                <a:cxnLst/>
                <a:rect l="l" t="t" r="r" b="b"/>
                <a:pathLst>
                  <a:path w="1361979" h="451911">
                    <a:moveTo>
                      <a:pt x="25451" y="0"/>
                    </a:moveTo>
                    <a:lnTo>
                      <a:pt x="1336528" y="0"/>
                    </a:lnTo>
                    <a:cubicBezTo>
                      <a:pt x="1343278" y="0"/>
                      <a:pt x="1349752" y="2681"/>
                      <a:pt x="1354524" y="7454"/>
                    </a:cubicBezTo>
                    <a:cubicBezTo>
                      <a:pt x="1359297" y="12227"/>
                      <a:pt x="1361979" y="18701"/>
                      <a:pt x="1361979" y="25451"/>
                    </a:cubicBezTo>
                    <a:lnTo>
                      <a:pt x="1361979" y="426460"/>
                    </a:lnTo>
                    <a:cubicBezTo>
                      <a:pt x="1361979" y="440516"/>
                      <a:pt x="1350584" y="451911"/>
                      <a:pt x="1336528" y="451911"/>
                    </a:cubicBezTo>
                    <a:lnTo>
                      <a:pt x="25451" y="451911"/>
                    </a:lnTo>
                    <a:cubicBezTo>
                      <a:pt x="18701" y="451911"/>
                      <a:pt x="12227" y="449230"/>
                      <a:pt x="7454" y="444457"/>
                    </a:cubicBezTo>
                    <a:cubicBezTo>
                      <a:pt x="2681" y="439684"/>
                      <a:pt x="0" y="433210"/>
                      <a:pt x="0" y="426460"/>
                    </a:cubicBezTo>
                    <a:lnTo>
                      <a:pt x="0" y="25451"/>
                    </a:lnTo>
                    <a:cubicBezTo>
                      <a:pt x="0" y="18701"/>
                      <a:pt x="2681" y="12227"/>
                      <a:pt x="7454" y="7454"/>
                    </a:cubicBezTo>
                    <a:cubicBezTo>
                      <a:pt x="12227" y="2681"/>
                      <a:pt x="18701" y="0"/>
                      <a:pt x="25451" y="0"/>
                    </a:cubicBezTo>
                    <a:close/>
                  </a:path>
                </a:pathLst>
              </a:custGeom>
              <a:solidFill>
                <a:srgbClr val="FBE5D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361979" cy="4900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7"/>
                  </a:lnSpc>
                </a:pPr>
                <a:endParaRPr sz="60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865111" y="2936876"/>
            <a:ext cx="10461779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altLang="zh-TW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“</a:t>
            </a:r>
            <a:r>
              <a:rPr lang="zh-TW" altLang="en-US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內容</a:t>
            </a:r>
            <a:r>
              <a:rPr lang="en-US" altLang="zh-TW" sz="5333" b="1" dirty="0" smtClean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2”</a:t>
            </a:r>
            <a:endParaRPr lang="en-US" sz="5333" b="1" dirty="0">
              <a:solidFill>
                <a:srgbClr val="20202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</p:spTree>
    <p:extLst>
      <p:ext uri="{BB962C8B-B14F-4D97-AF65-F5344CB8AC3E}">
        <p14:creationId xmlns:p14="http://schemas.microsoft.com/office/powerpoint/2010/main" val="246494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4393" y="3104422"/>
            <a:ext cx="2207609" cy="3753580"/>
            <a:chOff x="0" y="0"/>
            <a:chExt cx="872142" cy="1482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142" cy="1482895"/>
            </a:xfrm>
            <a:custGeom>
              <a:avLst/>
              <a:gdLst/>
              <a:ahLst/>
              <a:cxnLst/>
              <a:rect l="l" t="t" r="r" b="b"/>
              <a:pathLst>
                <a:path w="872142" h="1482895">
                  <a:moveTo>
                    <a:pt x="0" y="0"/>
                  </a:moveTo>
                  <a:lnTo>
                    <a:pt x="872142" y="0"/>
                  </a:lnTo>
                  <a:lnTo>
                    <a:pt x="872142" y="1482895"/>
                  </a:lnTo>
                  <a:lnTo>
                    <a:pt x="0" y="1482895"/>
                  </a:lnTo>
                  <a:close/>
                </a:path>
              </a:pathLst>
            </a:custGeom>
            <a:solidFill>
              <a:srgbClr val="EECE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872142" cy="14543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0" y="847369"/>
            <a:ext cx="12192000" cy="0"/>
          </a:xfrm>
          <a:prstGeom prst="line">
            <a:avLst/>
          </a:prstGeom>
          <a:ln w="9525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32">
            <a:extLst>
              <a:ext uri="{FF2B5EF4-FFF2-40B4-BE49-F238E27FC236}">
                <a16:creationId xmlns:a16="http://schemas.microsoft.com/office/drawing/2014/main" id="{D2141B3E-2EC2-9040-8989-948696D11EB9}"/>
              </a:ext>
            </a:extLst>
          </p:cNvPr>
          <p:cNvGrpSpPr/>
          <p:nvPr/>
        </p:nvGrpSpPr>
        <p:grpSpPr>
          <a:xfrm>
            <a:off x="10560950" y="6120611"/>
            <a:ext cx="1278791" cy="519285"/>
            <a:chOff x="0" y="0"/>
            <a:chExt cx="2557581" cy="1038570"/>
          </a:xfrm>
        </p:grpSpPr>
        <p:grpSp>
          <p:nvGrpSpPr>
            <p:cNvPr id="26" name="Group 33">
              <a:extLst>
                <a:ext uri="{FF2B5EF4-FFF2-40B4-BE49-F238E27FC236}">
                  <a16:creationId xmlns:a16="http://schemas.microsoft.com/office/drawing/2014/main" id="{97C4363E-FA63-DE47-BAC8-5038BED00809}"/>
                </a:ext>
              </a:extLst>
            </p:cNvPr>
            <p:cNvGrpSpPr/>
            <p:nvPr/>
          </p:nvGrpSpPr>
          <p:grpSpPr>
            <a:xfrm>
              <a:off x="0" y="87570"/>
              <a:ext cx="2557581" cy="951000"/>
              <a:chOff x="0" y="0"/>
              <a:chExt cx="505201" cy="187852"/>
            </a:xfrm>
          </p:grpSpPr>
          <p:sp>
            <p:nvSpPr>
              <p:cNvPr id="31" name="Freeform 34">
                <a:extLst>
                  <a:ext uri="{FF2B5EF4-FFF2-40B4-BE49-F238E27FC236}">
                    <a16:creationId xmlns:a16="http://schemas.microsoft.com/office/drawing/2014/main" id="{BF604C19-D58F-0B48-BEFB-5F1BC2CA3486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5">
                <a:extLst>
                  <a:ext uri="{FF2B5EF4-FFF2-40B4-BE49-F238E27FC236}">
                    <a16:creationId xmlns:a16="http://schemas.microsoft.com/office/drawing/2014/main" id="{63B979F3-BECB-FD49-A75F-E057714A57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05201" cy="22595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C6358318-98A2-5849-B0B7-CA25C0828543}"/>
                </a:ext>
              </a:extLst>
            </p:cNvPr>
            <p:cNvGrpSpPr/>
            <p:nvPr/>
          </p:nvGrpSpPr>
          <p:grpSpPr>
            <a:xfrm>
              <a:off x="0" y="0"/>
              <a:ext cx="2557581" cy="951000"/>
              <a:chOff x="0" y="0"/>
              <a:chExt cx="505201" cy="187852"/>
            </a:xfrm>
          </p:grpSpPr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B91092B8-6EFA-1D4B-826A-EDBD4F968A20}"/>
                  </a:ext>
                </a:extLst>
              </p:cNvPr>
              <p:cNvSpPr/>
              <p:nvPr/>
            </p:nvSpPr>
            <p:spPr>
              <a:xfrm>
                <a:off x="0" y="0"/>
                <a:ext cx="505201" cy="187852"/>
              </a:xfrm>
              <a:custGeom>
                <a:avLst/>
                <a:gdLst/>
                <a:ahLst/>
                <a:cxnLst/>
                <a:rect l="l" t="t" r="r" b="b"/>
                <a:pathLst>
                  <a:path w="505201" h="187852">
                    <a:moveTo>
                      <a:pt x="80721" y="0"/>
                    </a:moveTo>
                    <a:lnTo>
                      <a:pt x="424480" y="0"/>
                    </a:lnTo>
                    <a:cubicBezTo>
                      <a:pt x="469061" y="0"/>
                      <a:pt x="505201" y="36140"/>
                      <a:pt x="505201" y="80721"/>
                    </a:cubicBezTo>
                    <a:lnTo>
                      <a:pt x="505201" y="107131"/>
                    </a:lnTo>
                    <a:cubicBezTo>
                      <a:pt x="505201" y="151712"/>
                      <a:pt x="469061" y="187852"/>
                      <a:pt x="424480" y="187852"/>
                    </a:cubicBezTo>
                    <a:lnTo>
                      <a:pt x="80721" y="187852"/>
                    </a:lnTo>
                    <a:cubicBezTo>
                      <a:pt x="36140" y="187852"/>
                      <a:pt x="0" y="151712"/>
                      <a:pt x="0" y="107131"/>
                    </a:cubicBezTo>
                    <a:lnTo>
                      <a:pt x="0" y="80721"/>
                    </a:lnTo>
                    <a:cubicBezTo>
                      <a:pt x="0" y="36140"/>
                      <a:pt x="36140" y="0"/>
                      <a:pt x="80721" y="0"/>
                    </a:cubicBezTo>
                    <a:close/>
                  </a:path>
                </a:pathLst>
              </a:custGeom>
              <a:solidFill>
                <a:srgbClr val="FFF6E9"/>
              </a:solidFill>
              <a:ln w="28575" cap="sq">
                <a:solidFill>
                  <a:srgbClr val="333333"/>
                </a:solidFill>
                <a:prstDash val="solid"/>
                <a:miter/>
              </a:ln>
            </p:spPr>
          </p:sp>
          <p:sp>
            <p:nvSpPr>
              <p:cNvPr id="30" name="TextBox 38">
                <a:extLst>
                  <a:ext uri="{FF2B5EF4-FFF2-40B4-BE49-F238E27FC236}">
                    <a16:creationId xmlns:a16="http://schemas.microsoft.com/office/drawing/2014/main" id="{75095630-1F76-5B41-AE26-A2D6A1D38E0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05201" cy="21642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>
                  <a:lnSpc>
                    <a:spcPts val="2053"/>
                  </a:lnSpc>
                  <a:spcBef>
                    <a:spcPct val="0"/>
                  </a:spcBef>
                </a:pPr>
                <a:endParaRPr sz="600" b="1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28" name="TextBox 39">
              <a:extLst>
                <a:ext uri="{FF2B5EF4-FFF2-40B4-BE49-F238E27FC236}">
                  <a16:creationId xmlns:a16="http://schemas.microsoft.com/office/drawing/2014/main" id="{D7403905-01FA-AC4B-A8D4-E722DA53694E}"/>
                </a:ext>
              </a:extLst>
            </p:cNvPr>
            <p:cNvSpPr txBox="1"/>
            <p:nvPr/>
          </p:nvSpPr>
          <p:spPr>
            <a:xfrm>
              <a:off x="440616" y="275224"/>
              <a:ext cx="1399085" cy="487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2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lata"/>
                  <a:sym typeface="Alata"/>
                </a:rPr>
                <a:t>Page - </a:t>
              </a:r>
            </a:p>
          </p:txBody>
        </p:sp>
      </p:grpSp>
      <p:sp>
        <p:nvSpPr>
          <p:cNvPr id="33" name="投影片編號版面配置區 39">
            <a:extLst>
              <a:ext uri="{FF2B5EF4-FFF2-40B4-BE49-F238E27FC236}">
                <a16:creationId xmlns:a16="http://schemas.microsoft.com/office/drawing/2014/main" id="{39B54A8A-0576-F846-A350-818FA2BC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1988" y="6279035"/>
            <a:ext cx="2743200" cy="246221"/>
          </a:xfrm>
        </p:spPr>
        <p:txBody>
          <a:bodyPr vert="horz" lIns="120000" tIns="0" rIns="121920" bIns="60960" rtlCol="0" anchor="ctr">
            <a:noAutofit/>
          </a:bodyPr>
          <a:lstStyle/>
          <a:p>
            <a:fld id="{B6F15528-21DE-4FAA-801E-634DDDAF4B2B}" type="slidenum">
              <a:rPr lang="en-US" b="1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pPr/>
              <a:t>9</a:t>
            </a:fld>
            <a:endParaRPr lang="en-US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3458A4B-D9A4-FB49-93A4-D70BD47AA440}"/>
              </a:ext>
            </a:extLst>
          </p:cNvPr>
          <p:cNvSpPr txBox="1"/>
          <p:nvPr/>
        </p:nvSpPr>
        <p:spPr>
          <a:xfrm>
            <a:off x="1315480" y="5913816"/>
            <a:ext cx="68424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“</a:t>
            </a:r>
            <a:r>
              <a:rPr lang="zh-TW" altLang="en-US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可以針對這個內容，做一個概述，例如找尋的原因、總結</a:t>
            </a: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r>
              <a:rPr lang="zh-TW" altLang="en-US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等，讓閱聽者能一目了然</a:t>
            </a:r>
            <a:r>
              <a:rPr lang="en-US" altLang="zh-TW" sz="16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”</a:t>
            </a:r>
            <a:endParaRPr lang="zh-TW" alt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箭號: 向右 3">
            <a:extLst>
              <a:ext uri="{FF2B5EF4-FFF2-40B4-BE49-F238E27FC236}">
                <a16:creationId xmlns:a16="http://schemas.microsoft.com/office/drawing/2014/main" id="{286A8708-3A94-1745-B864-05A74CD9C9DC}"/>
              </a:ext>
            </a:extLst>
          </p:cNvPr>
          <p:cNvSpPr/>
          <p:nvPr/>
        </p:nvSpPr>
        <p:spPr>
          <a:xfrm>
            <a:off x="383916" y="6027547"/>
            <a:ext cx="794139" cy="273699"/>
          </a:xfrm>
          <a:prstGeom prst="rightArrow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b="1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1427780" y="238761"/>
            <a:ext cx="800548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en-US" sz="3200" b="1" dirty="0" err="1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新增標籤</a:t>
            </a:r>
            <a:r>
              <a:rPr lang="en-US" sz="3200" b="1" dirty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 </a:t>
            </a:r>
            <a:r>
              <a:rPr 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–</a:t>
            </a:r>
            <a:r>
              <a:rPr lang="zh-TW" alt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 </a:t>
            </a:r>
            <a:r>
              <a:rPr 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”</a:t>
            </a:r>
            <a:r>
              <a:rPr lang="zh-TW" altLang="en-US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內容</a:t>
            </a:r>
            <a:r>
              <a:rPr lang="en-US" altLang="zh-TW" sz="3200" b="1" dirty="0" smtClean="0">
                <a:solidFill>
                  <a:srgbClr val="EF713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2“</a:t>
            </a:r>
            <a:endParaRPr lang="en-US" sz="3200" b="1" dirty="0">
              <a:solidFill>
                <a:srgbClr val="EF713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41834436-7ACD-F944-AAF2-987A7294C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045484"/>
              </p:ext>
            </p:extLst>
          </p:nvPr>
        </p:nvGraphicFramePr>
        <p:xfrm>
          <a:off x="336000" y="1163376"/>
          <a:ext cx="10800000" cy="44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077516906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792578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675697528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店家名稱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簡述內容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3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資料來源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(“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如果是網址，請把它變成是以超連結方式呈現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”)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16140" marR="116140" marT="58069" marB="58069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9508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CHATGPT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OPENAI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84901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CLAUDE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ANTROPIC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028048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CANVA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09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GEMINI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GOOGLE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ONE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GOOGLE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CLOUD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金額</a:t>
                      </a:r>
                      <a:r>
                        <a:rPr lang="en-US" altLang="zh-TW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&gt;=300</a:t>
                      </a:r>
                      <a:r>
                        <a:rPr lang="zh-TW" altLang="en-US" sz="11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排除訂閱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100GB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，僅升級雲端空間的用戶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hlinkClick r:id="" action="ppaction://noaction"/>
                        </a:rPr>
                        <a:t>**補充</a:t>
                      </a:r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23588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68816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9303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14368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60412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57842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52833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76678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47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36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2854" y="2107322"/>
            <a:ext cx="3505972" cy="3505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09463" y="5224597"/>
            <a:ext cx="519896" cy="51989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16578" y="916805"/>
            <a:ext cx="2586052" cy="258605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905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73580" y="4560927"/>
            <a:ext cx="1847237" cy="18472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905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65023" y="1609491"/>
            <a:ext cx="995663" cy="9956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2452241">
            <a:off x="11005650" y="-433573"/>
            <a:ext cx="1670325" cy="167032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-2452241">
            <a:off x="10962896" y="601994"/>
            <a:ext cx="629621" cy="62962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9036" y="3282505"/>
            <a:ext cx="466867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>
                <a:solidFill>
                  <a:srgbClr val="20202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5729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66826">
            <a:off x="-309010" y="-229265"/>
            <a:ext cx="1195891" cy="786145"/>
          </a:xfrm>
          <a:custGeom>
            <a:avLst/>
            <a:gdLst/>
            <a:ahLst/>
            <a:cxnLst/>
            <a:rect l="l" t="t" r="r" b="b"/>
            <a:pathLst>
              <a:path w="1793835" h="1179218">
                <a:moveTo>
                  <a:pt x="0" y="0"/>
                </a:moveTo>
                <a:lnTo>
                  <a:pt x="1793835" y="0"/>
                </a:lnTo>
                <a:lnTo>
                  <a:pt x="1793835" y="1179218"/>
                </a:lnTo>
                <a:lnTo>
                  <a:pt x="0" y="117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60446" y="5970817"/>
            <a:ext cx="2430940" cy="24309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9777" y="5135421"/>
            <a:ext cx="2430940" cy="24309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FFBA09">
                      <a:alpha val="100000"/>
                    </a:srgbClr>
                  </a:gs>
                  <a:gs pos="100000">
                    <a:srgbClr val="EBEBEB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" y="5746763"/>
            <a:ext cx="1174492" cy="1111237"/>
            <a:chOff x="0" y="0"/>
            <a:chExt cx="463997" cy="4390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997" cy="439007"/>
            </a:xfrm>
            <a:custGeom>
              <a:avLst/>
              <a:gdLst/>
              <a:ahLst/>
              <a:cxnLst/>
              <a:rect l="l" t="t" r="r" b="b"/>
              <a:pathLst>
                <a:path w="463997" h="439007">
                  <a:moveTo>
                    <a:pt x="0" y="0"/>
                  </a:moveTo>
                  <a:lnTo>
                    <a:pt x="463997" y="0"/>
                  </a:lnTo>
                  <a:lnTo>
                    <a:pt x="463997" y="439007"/>
                  </a:lnTo>
                  <a:lnTo>
                    <a:pt x="0" y="439007"/>
                  </a:lnTo>
                  <a:close/>
                </a:path>
              </a:pathLst>
            </a:custGeom>
            <a:solidFill>
              <a:srgbClr val="FFD0A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63997" cy="4104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6200" y="-338438"/>
            <a:ext cx="1004491" cy="10044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BA09">
                    <a:alpha val="100000"/>
                  </a:srgbClr>
                </a:gs>
                <a:gs pos="100000">
                  <a:srgbClr val="EBEBEB">
                    <a:alpha val="100000"/>
                  </a:srgbClr>
                </a:gs>
              </a:gsLst>
              <a:lin ang="2700000"/>
            </a:gra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3"/>
                </a:lnSpc>
              </a:pPr>
              <a:endParaRPr sz="6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5111" y="2936876"/>
            <a:ext cx="1046177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  <a:spcBef>
                <a:spcPct val="0"/>
              </a:spcBef>
            </a:pPr>
            <a:r>
              <a:rPr lang="en-US" sz="5333" b="1" dirty="0" err="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Bold"/>
                <a:sym typeface="Arial Unicode Bold"/>
              </a:rPr>
              <a:t>附錄</a:t>
            </a:r>
            <a:endParaRPr lang="en-US" sz="5333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Bold"/>
              <a:sym typeface="Arial Unicode Bold"/>
            </a:endParaRPr>
          </a:p>
        </p:txBody>
      </p:sp>
    </p:spTree>
    <p:extLst>
      <p:ext uri="{BB962C8B-B14F-4D97-AF65-F5344CB8AC3E}">
        <p14:creationId xmlns:p14="http://schemas.microsoft.com/office/powerpoint/2010/main" val="199056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281</Words>
  <Application>Microsoft Office PowerPoint</Application>
  <PresentationFormat>寬螢幕</PresentationFormat>
  <Paragraphs>53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Alata</vt:lpstr>
      <vt:lpstr>Arial Unicode Bold</vt:lpstr>
      <vt:lpstr>Microsoft JhengHei</vt:lpstr>
      <vt:lpstr>Microsoft JhengHei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Joe Jian</dc:creator>
  <cp:lastModifiedBy>Joe Jian</cp:lastModifiedBy>
  <cp:revision>7</cp:revision>
  <dcterms:created xsi:type="dcterms:W3CDTF">2026-05-24T15:37:04Z</dcterms:created>
  <dcterms:modified xsi:type="dcterms:W3CDTF">2026-06-14T15:05:37Z</dcterms:modified>
</cp:coreProperties>
</file>